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9" r:id="rId3"/>
    <p:sldId id="258" r:id="rId4"/>
    <p:sldId id="260" r:id="rId5"/>
    <p:sldId id="275" r:id="rId6"/>
    <p:sldId id="271" r:id="rId7"/>
    <p:sldId id="264" r:id="rId8"/>
    <p:sldId id="272" r:id="rId9"/>
    <p:sldId id="262" r:id="rId10"/>
    <p:sldId id="263" r:id="rId11"/>
    <p:sldId id="265" r:id="rId12"/>
    <p:sldId id="273" r:id="rId13"/>
    <p:sldId id="268"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005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3326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2328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C090BC-3843-4072-8766-2E40FDE351FB}"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53364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EC090BC-3843-4072-8766-2E40FDE351FB}"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27624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EC090BC-3843-4072-8766-2E40FDE351FB}"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11527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EC090BC-3843-4072-8766-2E40FDE351FB}"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0617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090BC-3843-4072-8766-2E40FDE351FB}"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8052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194695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206438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742460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745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090BC-3843-4072-8766-2E40FDE351FB}" type="datetimeFigureOut">
              <a:rPr lang="en-US" smtClean="0"/>
              <a:t>5/8/2025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FF8D-8512-4DC6-B17E-577754520375}" type="slidenum">
              <a:rPr lang="en-US" smtClean="0"/>
              <a:t>‹#›</a:t>
            </a:fld>
            <a:endParaRPr lang="en-US"/>
          </a:p>
        </p:txBody>
      </p:sp>
    </p:spTree>
    <p:extLst>
      <p:ext uri="{BB962C8B-B14F-4D97-AF65-F5344CB8AC3E}">
        <p14:creationId xmlns:p14="http://schemas.microsoft.com/office/powerpoint/2010/main" val="273286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1378803"/>
            <a:ext cx="8229600" cy="2360027"/>
          </a:xfrm>
        </p:spPr>
      </p:pic>
      <p:sp>
        <p:nvSpPr>
          <p:cNvPr id="5" name="Rectangle 4"/>
          <p:cNvSpPr/>
          <p:nvPr/>
        </p:nvSpPr>
        <p:spPr>
          <a:xfrm>
            <a:off x="1447800" y="3893403"/>
            <a:ext cx="6113468" cy="830997"/>
          </a:xfrm>
          <a:prstGeom prst="rect">
            <a:avLst/>
          </a:prstGeom>
        </p:spPr>
        <p:txBody>
          <a:bodyPr wrap="none">
            <a:spAutoFit/>
          </a:bodyPr>
          <a:lstStyle/>
          <a:p>
            <a:r>
              <a:rPr lang="en-US" sz="4800" b="1" dirty="0" smtClean="0">
                <a:latin typeface="Arial" pitchFamily="34" charset="0"/>
                <a:ea typeface="+mj-ea"/>
                <a:cs typeface="Arial" pitchFamily="34" charset="0"/>
              </a:rPr>
              <a:t>COMPANY PROFILE</a:t>
            </a:r>
            <a:endParaRPr lang="en-US" sz="4800" dirty="0">
              <a:latin typeface="Arial" pitchFamily="34" charset="0"/>
              <a:cs typeface="Arial" pitchFamily="34" charset="0"/>
            </a:endParaRPr>
          </a:p>
        </p:txBody>
      </p:sp>
    </p:spTree>
    <p:extLst>
      <p:ext uri="{BB962C8B-B14F-4D97-AF65-F5344CB8AC3E}">
        <p14:creationId xmlns:p14="http://schemas.microsoft.com/office/powerpoint/2010/main" val="25666437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500" b="1" dirty="0" err="1" smtClean="0">
                <a:solidFill>
                  <a:srgbClr val="0000FF"/>
                </a:solidFill>
              </a:rPr>
              <a:t>Acadev</a:t>
            </a:r>
            <a:r>
              <a:rPr lang="en-US" sz="3500" b="1" dirty="0" smtClean="0">
                <a:solidFill>
                  <a:srgbClr val="0000FF"/>
                </a:solidFill>
              </a:rPr>
              <a:t> Technologies at a Glance</a:t>
            </a:r>
            <a:endParaRPr lang="en-US" sz="3500" b="1" dirty="0">
              <a:solidFill>
                <a:srgbClr val="0000FF"/>
              </a:solidFill>
            </a:endParaRPr>
          </a:p>
        </p:txBody>
      </p:sp>
      <p:sp>
        <p:nvSpPr>
          <p:cNvPr id="3" name="Content Placeholder 2"/>
          <p:cNvSpPr>
            <a:spLocks noGrp="1"/>
          </p:cNvSpPr>
          <p:nvPr>
            <p:ph idx="1"/>
          </p:nvPr>
        </p:nvSpPr>
        <p:spPr>
          <a:xfrm>
            <a:off x="457200" y="1431925"/>
            <a:ext cx="8229600" cy="4525963"/>
          </a:xfrm>
        </p:spPr>
        <p:txBody>
          <a:bodyPr>
            <a:normAutofit/>
          </a:bodyPr>
          <a:lstStyle/>
          <a:p>
            <a:pPr marL="0" indent="0">
              <a:buNone/>
            </a:pPr>
            <a:r>
              <a:rPr lang="en-US" sz="2400" b="1" dirty="0" smtClean="0">
                <a:solidFill>
                  <a:srgbClr val="C00000"/>
                </a:solidFill>
              </a:rPr>
              <a:t>Company Name: </a:t>
            </a:r>
            <a:r>
              <a:rPr lang="en-US" sz="2400" dirty="0" err="1" smtClean="0"/>
              <a:t>Acadev</a:t>
            </a:r>
            <a:r>
              <a:rPr lang="en-US" sz="2400" dirty="0" smtClean="0"/>
              <a:t> Technologies Inc. </a:t>
            </a:r>
            <a:br>
              <a:rPr lang="en-US" sz="2400" dirty="0" smtClean="0"/>
            </a:br>
            <a:endParaRPr lang="en-US" sz="2400" dirty="0" smtClean="0"/>
          </a:p>
          <a:p>
            <a:pPr marL="0" indent="0">
              <a:buNone/>
            </a:pPr>
            <a:r>
              <a:rPr lang="en-US" sz="2400" b="1" dirty="0" smtClean="0">
                <a:solidFill>
                  <a:srgbClr val="C00000"/>
                </a:solidFill>
              </a:rPr>
              <a:t>Business Address: </a:t>
            </a:r>
            <a:r>
              <a:rPr lang="en-US" sz="2400" dirty="0" smtClean="0"/>
              <a:t>3rd </a:t>
            </a:r>
            <a:r>
              <a:rPr lang="en-US" sz="2400" dirty="0" err="1" smtClean="0"/>
              <a:t>Flr</a:t>
            </a:r>
            <a:r>
              <a:rPr lang="en-US" sz="2400" dirty="0" smtClean="0"/>
              <a:t>. Triple M Commercial Bldg. Dona Soledad Ave., Don </a:t>
            </a:r>
            <a:r>
              <a:rPr lang="en-US" sz="2400" dirty="0" err="1" smtClean="0"/>
              <a:t>Bosco</a:t>
            </a:r>
            <a:r>
              <a:rPr lang="en-US" sz="2400" dirty="0" smtClean="0"/>
              <a:t> 1700, Paranaque City </a:t>
            </a:r>
            <a:br>
              <a:rPr lang="en-US" sz="2400" dirty="0" smtClean="0"/>
            </a:br>
            <a:endParaRPr lang="en-US" sz="2400" dirty="0" smtClean="0"/>
          </a:p>
          <a:p>
            <a:pPr marL="0" indent="0">
              <a:buNone/>
            </a:pPr>
            <a:r>
              <a:rPr lang="en-US" sz="2400" b="1" dirty="0" smtClean="0">
                <a:solidFill>
                  <a:srgbClr val="C00000"/>
                </a:solidFill>
              </a:rPr>
              <a:t>Contact Details: </a:t>
            </a:r>
          </a:p>
          <a:p>
            <a:pPr marL="0" indent="0">
              <a:buNone/>
            </a:pPr>
            <a:r>
              <a:rPr lang="en-US" sz="2400" b="1" dirty="0" smtClean="0">
                <a:solidFill>
                  <a:srgbClr val="7030A0"/>
                </a:solidFill>
              </a:rPr>
              <a:t>Landline #: </a:t>
            </a:r>
            <a:r>
              <a:rPr lang="en-US" sz="2400" dirty="0" smtClean="0"/>
              <a:t>824-1064 </a:t>
            </a:r>
          </a:p>
          <a:p>
            <a:pPr marL="0" indent="0">
              <a:buNone/>
            </a:pPr>
            <a:r>
              <a:rPr lang="en-US" sz="2400" b="1" dirty="0" smtClean="0">
                <a:solidFill>
                  <a:srgbClr val="7030A0"/>
                </a:solidFill>
              </a:rPr>
              <a:t>Mobile #’s: </a:t>
            </a:r>
            <a:r>
              <a:rPr lang="en-US" sz="2400" dirty="0" smtClean="0"/>
              <a:t>0917-812-7757/0917-164-4119/0917-1374784 </a:t>
            </a:r>
          </a:p>
          <a:p>
            <a:pPr marL="0" indent="0">
              <a:buNone/>
            </a:pPr>
            <a:r>
              <a:rPr lang="en-US" sz="2400" b="1" dirty="0" smtClean="0">
                <a:solidFill>
                  <a:srgbClr val="7030A0"/>
                </a:solidFill>
              </a:rPr>
              <a:t>Email: </a:t>
            </a:r>
            <a:r>
              <a:rPr lang="en-US" sz="2400" dirty="0" smtClean="0"/>
              <a:t>acadevtech@gmail.com </a:t>
            </a:r>
            <a:br>
              <a:rPr lang="en-US" sz="2400" dirty="0" smtClean="0"/>
            </a:br>
            <a:r>
              <a:rPr lang="en-US" sz="2400" dirty="0" smtClean="0"/>
              <a:t/>
            </a:r>
            <a:br>
              <a:rPr lang="en-US" sz="2400" dirty="0" smtClean="0"/>
            </a:br>
            <a:r>
              <a:rPr lang="en-US" sz="2400" b="1" dirty="0" smtClean="0">
                <a:solidFill>
                  <a:srgbClr val="C00000"/>
                </a:solidFill>
              </a:rPr>
              <a:t>Founder and President: </a:t>
            </a:r>
            <a:r>
              <a:rPr lang="en-US" sz="2400" dirty="0" smtClean="0"/>
              <a:t>Elmer B. </a:t>
            </a:r>
            <a:r>
              <a:rPr lang="en-US" sz="2400" dirty="0" err="1" smtClean="0"/>
              <a:t>Epistola</a:t>
            </a:r>
            <a:endParaRPr lang="en-US" sz="2400" dirty="0" smtClean="0"/>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0318476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467600" cy="1143000"/>
          </a:xfrm>
        </p:spPr>
        <p:txBody>
          <a:bodyPr>
            <a:normAutofit/>
          </a:bodyPr>
          <a:lstStyle/>
          <a:p>
            <a:r>
              <a:rPr lang="en-US" sz="3500" b="1" dirty="0" smtClean="0">
                <a:solidFill>
                  <a:srgbClr val="0000FF"/>
                </a:solidFill>
              </a:rPr>
              <a:t>Company Description</a:t>
            </a:r>
            <a:endParaRPr lang="en-US" sz="3500" b="1" dirty="0">
              <a:solidFill>
                <a:srgbClr val="0000FF"/>
              </a:solidFill>
            </a:endParaRPr>
          </a:p>
        </p:txBody>
      </p:sp>
      <p:sp>
        <p:nvSpPr>
          <p:cNvPr id="3" name="Content Placeholder 2"/>
          <p:cNvSpPr>
            <a:spLocks noGrp="1"/>
          </p:cNvSpPr>
          <p:nvPr>
            <p:ph idx="1"/>
          </p:nvPr>
        </p:nvSpPr>
        <p:spPr>
          <a:xfrm>
            <a:off x="457200" y="1371600"/>
            <a:ext cx="8229600" cy="4525963"/>
          </a:xfrm>
        </p:spPr>
        <p:txBody>
          <a:bodyPr>
            <a:noAutofit/>
          </a:bodyPr>
          <a:lstStyle/>
          <a:p>
            <a:r>
              <a:rPr lang="en-US" sz="2400" b="1" dirty="0" err="1"/>
              <a:t>Acadev</a:t>
            </a:r>
            <a:r>
              <a:rPr lang="en-US" sz="2400" b="1" dirty="0"/>
              <a:t> Technologies Inc. (</a:t>
            </a:r>
            <a:r>
              <a:rPr lang="en-US" sz="2400" b="1" dirty="0" smtClean="0"/>
              <a:t>ATI) </a:t>
            </a:r>
            <a:r>
              <a:rPr lang="en-US" sz="2400" dirty="0" smtClean="0"/>
              <a:t>is a </a:t>
            </a:r>
            <a:r>
              <a:rPr lang="en-US" sz="2400" dirty="0"/>
              <a:t>tech company based in </a:t>
            </a:r>
            <a:r>
              <a:rPr lang="en-US" sz="2400" dirty="0" smtClean="0"/>
              <a:t>Paranaque and incorporated </a:t>
            </a:r>
            <a:r>
              <a:rPr lang="en-US" sz="2400" dirty="0"/>
              <a:t>on November 25, </a:t>
            </a:r>
            <a:r>
              <a:rPr lang="en-US" sz="2400" dirty="0" smtClean="0"/>
              <a:t>2021. ATI </a:t>
            </a:r>
            <a:r>
              <a:rPr lang="en-US" sz="2400" dirty="0"/>
              <a:t>is led by its founder and </a:t>
            </a:r>
            <a:r>
              <a:rPr lang="en-US" sz="2400" dirty="0" smtClean="0"/>
              <a:t>has 8 </a:t>
            </a:r>
            <a:r>
              <a:rPr lang="en-US" sz="2400" dirty="0"/>
              <a:t>full-time and </a:t>
            </a:r>
            <a:r>
              <a:rPr lang="en-US" sz="2400" dirty="0" smtClean="0"/>
              <a:t>3 </a:t>
            </a:r>
            <a:r>
              <a:rPr lang="en-US" sz="2400" dirty="0"/>
              <a:t>part-time </a:t>
            </a:r>
            <a:r>
              <a:rPr lang="en-US" sz="2400" dirty="0" smtClean="0"/>
              <a:t>employees as well as several freelance </a:t>
            </a:r>
            <a:r>
              <a:rPr lang="en-US" sz="2400" dirty="0"/>
              <a:t>developers </a:t>
            </a:r>
            <a:r>
              <a:rPr lang="en-US" sz="2400" dirty="0" smtClean="0"/>
              <a:t> and marketers.</a:t>
            </a:r>
          </a:p>
          <a:p>
            <a:endParaRPr lang="en-US" sz="1000" dirty="0"/>
          </a:p>
          <a:p>
            <a:r>
              <a:rPr lang="en-US" sz="2400" dirty="0"/>
              <a:t>The company develops:</a:t>
            </a:r>
          </a:p>
          <a:p>
            <a:pPr marL="0" indent="0">
              <a:buNone/>
            </a:pPr>
            <a:r>
              <a:rPr lang="en-US" sz="2400" dirty="0"/>
              <a:t>	</a:t>
            </a:r>
            <a:r>
              <a:rPr lang="en-US" sz="2400" dirty="0" smtClean="0"/>
              <a:t>- hardware/software </a:t>
            </a:r>
            <a:r>
              <a:rPr lang="en-US" sz="2400" dirty="0"/>
              <a:t>systems controlled via mobile or PC,</a:t>
            </a:r>
          </a:p>
          <a:p>
            <a:pPr marL="0" indent="0">
              <a:buNone/>
            </a:pPr>
            <a:r>
              <a:rPr lang="en-US" sz="2400" dirty="0" smtClean="0"/>
              <a:t>	- subscription-based </a:t>
            </a:r>
            <a:r>
              <a:rPr lang="en-US" sz="2400" dirty="0"/>
              <a:t>online services,</a:t>
            </a:r>
          </a:p>
          <a:p>
            <a:pPr marL="0" indent="0">
              <a:buNone/>
            </a:pPr>
            <a:r>
              <a:rPr lang="en-US" sz="2400" dirty="0" smtClean="0"/>
              <a:t>	- AR/VR </a:t>
            </a:r>
            <a:r>
              <a:rPr lang="en-US" sz="2400" dirty="0"/>
              <a:t>projects, and</a:t>
            </a:r>
          </a:p>
          <a:p>
            <a:pPr marL="0" indent="0">
              <a:buNone/>
            </a:pPr>
            <a:r>
              <a:rPr lang="en-US" sz="2400" dirty="0" smtClean="0"/>
              <a:t>	- local </a:t>
            </a:r>
            <a:r>
              <a:rPr lang="en-US" sz="2400" dirty="0"/>
              <a:t>generative AI </a:t>
            </a:r>
            <a:r>
              <a:rPr lang="en-US" sz="2400" dirty="0" smtClean="0"/>
              <a:t>systems</a:t>
            </a:r>
          </a:p>
          <a:p>
            <a:pPr marL="0" indent="0">
              <a:buNone/>
            </a:pPr>
            <a:r>
              <a:rPr lang="en-US" sz="2400" dirty="0"/>
              <a:t>	</a:t>
            </a:r>
            <a:r>
              <a:rPr lang="en-US" sz="2400" dirty="0" smtClean="0"/>
              <a:t>- projects involving </a:t>
            </a:r>
            <a:r>
              <a:rPr lang="en-US" sz="2400" dirty="0" err="1" smtClean="0"/>
              <a:t>IoT</a:t>
            </a:r>
            <a:r>
              <a:rPr lang="en-US" sz="2400" dirty="0"/>
              <a:t>, animatronics, and </a:t>
            </a:r>
            <a:r>
              <a:rPr lang="en-US" sz="2400" dirty="0" smtClean="0"/>
              <a:t>robotics</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99516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19200"/>
            <a:ext cx="8229600" cy="4525963"/>
          </a:xfrm>
        </p:spPr>
        <p:txBody>
          <a:bodyPr>
            <a:noAutofit/>
          </a:bodyPr>
          <a:lstStyle/>
          <a:p>
            <a:pPr>
              <a:buAutoNum type="arabicParenR"/>
            </a:pPr>
            <a:r>
              <a:rPr lang="en-US" sz="2400" b="1" dirty="0" smtClean="0">
                <a:solidFill>
                  <a:srgbClr val="C00000"/>
                </a:solidFill>
              </a:rPr>
              <a:t>KPluz™ </a:t>
            </a:r>
          </a:p>
          <a:p>
            <a:pPr marL="400050" lvl="1" indent="0" algn="just">
              <a:buNone/>
            </a:pPr>
            <a:r>
              <a:rPr lang="en-US" sz="2200" dirty="0" smtClean="0"/>
              <a:t>KPluz is an online academic excellence system for Filipino students from Prep to Grade 12 that covers nine (9) major subjects: Math, English, Science, Filipino, </a:t>
            </a:r>
            <a:r>
              <a:rPr lang="en-US" sz="2200" dirty="0" err="1" smtClean="0"/>
              <a:t>Araling</a:t>
            </a:r>
            <a:r>
              <a:rPr lang="en-US" sz="2200" dirty="0" smtClean="0"/>
              <a:t> </a:t>
            </a:r>
            <a:r>
              <a:rPr lang="en-US" sz="2200" dirty="0" err="1" smtClean="0"/>
              <a:t>Panlipunan</a:t>
            </a:r>
            <a:r>
              <a:rPr lang="en-US" sz="2200" dirty="0" smtClean="0"/>
              <a:t>, MAPEH, TLE, Mandarin, and GMRC. KPluz has been and is being used by many private schools in the Philippines since 2013. </a:t>
            </a:r>
            <a:endParaRPr lang="en-US" sz="2200" dirty="0"/>
          </a:p>
          <a:p>
            <a:pPr marL="400050" lvl="1" indent="0" algn="just">
              <a:buNone/>
            </a:pPr>
            <a:endParaRPr lang="en-US" sz="2000" dirty="0" smtClean="0"/>
          </a:p>
          <a:p>
            <a:pPr lvl="0">
              <a:buFont typeface="Arial" pitchFamily="34" charset="0"/>
              <a:buAutoNum type="arabicParenR"/>
            </a:pPr>
            <a:r>
              <a:rPr lang="en-US" sz="2400" b="1" dirty="0" err="1" smtClean="0">
                <a:solidFill>
                  <a:srgbClr val="C00000"/>
                </a:solidFill>
              </a:rPr>
              <a:t>Epistola</a:t>
            </a:r>
            <a:r>
              <a:rPr lang="en-US" sz="2400" b="1" dirty="0" smtClean="0">
                <a:solidFill>
                  <a:srgbClr val="C00000"/>
                </a:solidFill>
              </a:rPr>
              <a:t> Extended Reality (XR) Museum™ </a:t>
            </a:r>
          </a:p>
          <a:p>
            <a:pPr marL="400050" lvl="1" indent="0" algn="just">
              <a:buNone/>
            </a:pPr>
            <a:r>
              <a:rPr lang="en-US" sz="2200" dirty="0" smtClean="0"/>
              <a:t>The </a:t>
            </a:r>
            <a:r>
              <a:rPr lang="en-US" sz="2200" dirty="0" err="1" smtClean="0"/>
              <a:t>Epistola</a:t>
            </a:r>
            <a:r>
              <a:rPr lang="en-US" sz="2200" dirty="0" smtClean="0"/>
              <a:t> Extended Reality (XR) Museum is a roving augmented and virtual reality (AR and VR) museum that we bring to and exhibit in schools, featuring attractions such as animated 3D dinosaurs/animals, NASA spacecraft, WWII planes and ships, prehistoric 	humans, and many more. </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514980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722" y="1371600"/>
            <a:ext cx="8290278" cy="466328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0" y="228600"/>
            <a:ext cx="4486275" cy="1049541"/>
          </a:xfrm>
          <a:prstGeom prst="rect">
            <a:avLst/>
          </a:prstGeom>
        </p:spPr>
      </p:pic>
    </p:spTree>
    <p:extLst>
      <p:ext uri="{BB962C8B-B14F-4D97-AF65-F5344CB8AC3E}">
        <p14:creationId xmlns:p14="http://schemas.microsoft.com/office/powerpoint/2010/main" val="40544137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marL="0" indent="0">
              <a:buNone/>
            </a:pPr>
            <a:r>
              <a:rPr lang="en-US" sz="2400" b="1" dirty="0" smtClean="0">
                <a:solidFill>
                  <a:srgbClr val="C00000"/>
                </a:solidFill>
              </a:rPr>
              <a:t>3) VR Adventures™ </a:t>
            </a:r>
          </a:p>
          <a:p>
            <a:pPr marL="400050" lvl="1" indent="0" algn="just">
              <a:buNone/>
            </a:pPr>
            <a:r>
              <a:rPr lang="en-US" sz="2200" dirty="0" smtClean="0"/>
              <a:t>VR Adventures is an online virtual field trip package that allows subscribers to go on any of	the following tour-guided 3D fantasy escapades: </a:t>
            </a:r>
          </a:p>
          <a:p>
            <a:pPr marL="400050" lvl="1" indent="0" algn="just">
              <a:buNone/>
            </a:pPr>
            <a:endParaRPr lang="en-US" sz="1000" dirty="0" smtClean="0"/>
          </a:p>
          <a:p>
            <a:pPr marL="400050" lvl="1" indent="0" algn="just">
              <a:buNone/>
            </a:pPr>
            <a:r>
              <a:rPr lang="en-US" sz="2200" b="1" dirty="0" smtClean="0">
                <a:solidFill>
                  <a:srgbClr val="7030A0"/>
                </a:solidFill>
              </a:rPr>
              <a:t>3.1. Raptor Island</a:t>
            </a:r>
            <a:r>
              <a:rPr lang="en-US" sz="2200" dirty="0" smtClean="0"/>
              <a:t>, a virtual world where dinosaurs live </a:t>
            </a:r>
            <a:r>
              <a:rPr lang="en-US" sz="2200" dirty="0" err="1" smtClean="0"/>
              <a:t>ala</a:t>
            </a:r>
            <a:r>
              <a:rPr lang="en-US" sz="2200" dirty="0" smtClean="0"/>
              <a:t> ‘Jurassic Park’ </a:t>
            </a:r>
          </a:p>
          <a:p>
            <a:pPr marL="400050" lvl="1" indent="0" algn="just">
              <a:buNone/>
            </a:pPr>
            <a:endParaRPr lang="en-US" sz="800" dirty="0" smtClean="0"/>
          </a:p>
          <a:p>
            <a:pPr marL="400050" lvl="1" indent="0" algn="just">
              <a:buNone/>
            </a:pPr>
            <a:r>
              <a:rPr lang="en-US" sz="2200" b="1" dirty="0" smtClean="0">
                <a:solidFill>
                  <a:srgbClr val="7030A0"/>
                </a:solidFill>
              </a:rPr>
              <a:t>3.2. ‘African Safari’, </a:t>
            </a:r>
            <a:r>
              <a:rPr lang="en-US" sz="2200" dirty="0" smtClean="0"/>
              <a:t>a virtual island where African animals roam, and </a:t>
            </a:r>
          </a:p>
          <a:p>
            <a:pPr marL="400050" lvl="1" indent="0" algn="just">
              <a:buNone/>
            </a:pPr>
            <a:endParaRPr lang="en-US" sz="800" dirty="0" smtClean="0"/>
          </a:p>
          <a:p>
            <a:pPr marL="400050" lvl="1" indent="0" algn="just">
              <a:buNone/>
            </a:pPr>
            <a:r>
              <a:rPr lang="en-US" sz="2200" b="1" dirty="0" smtClean="0">
                <a:solidFill>
                  <a:srgbClr val="7030A0"/>
                </a:solidFill>
              </a:rPr>
              <a:t>3.3. ‘Under the Sea’, </a:t>
            </a:r>
            <a:r>
              <a:rPr lang="en-US" sz="2200" dirty="0" smtClean="0"/>
              <a:t>a virtual world deep under the ocean.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167456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Screenshots from VR Adventures </a:t>
            </a:r>
            <a:endParaRPr lang="en-US" sz="3500" b="1" dirty="0">
              <a:solidFill>
                <a:srgbClr val="0000FF"/>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805" y="1514475"/>
            <a:ext cx="66294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8532280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7"/>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65237"/>
            <a:ext cx="8229600" cy="4525963"/>
          </a:xfrm>
        </p:spPr>
        <p:txBody>
          <a:bodyPr>
            <a:noAutofit/>
          </a:bodyPr>
          <a:lstStyle/>
          <a:p>
            <a:pPr marL="0" indent="0">
              <a:buNone/>
            </a:pPr>
            <a:r>
              <a:rPr lang="en-US" sz="2400" b="1" dirty="0" smtClean="0">
                <a:solidFill>
                  <a:srgbClr val="C00000"/>
                </a:solidFill>
              </a:rPr>
              <a:t>4) Augmented </a:t>
            </a:r>
            <a:r>
              <a:rPr lang="en-US" sz="2400" b="1" dirty="0">
                <a:solidFill>
                  <a:srgbClr val="C00000"/>
                </a:solidFill>
              </a:rPr>
              <a:t>Reality (AR) Services </a:t>
            </a:r>
            <a:endParaRPr lang="en-US" sz="2400" b="1" dirty="0" smtClean="0">
              <a:solidFill>
                <a:srgbClr val="C00000"/>
              </a:solidFill>
            </a:endParaRPr>
          </a:p>
          <a:p>
            <a:pPr>
              <a:buFont typeface="+mj-lt"/>
              <a:buAutoNum type="arabicParenR" startAt="4"/>
            </a:pPr>
            <a:endParaRPr lang="en-US" sz="1600" dirty="0"/>
          </a:p>
          <a:p>
            <a:pPr marL="400050" lvl="1" indent="0" algn="just">
              <a:buNone/>
            </a:pPr>
            <a:r>
              <a:rPr lang="en-US" sz="2200" dirty="0"/>
              <a:t>We are among the pioneers of augmented reality (AR) in the Philippines, with numerous AR projects in education, marketing, amusement, and tourism</a:t>
            </a:r>
            <a:r>
              <a:rPr lang="en-US" sz="2200" dirty="0" smtClean="0"/>
              <a:t>.</a:t>
            </a:r>
          </a:p>
          <a:p>
            <a:pPr marL="400050" lvl="1" indent="0" algn="just">
              <a:buNone/>
            </a:pPr>
            <a:endParaRPr lang="en-US" sz="800" dirty="0"/>
          </a:p>
          <a:p>
            <a:pPr marL="400050" lvl="1" indent="0" algn="just">
              <a:buNone/>
            </a:pPr>
            <a:r>
              <a:rPr lang="en-US" sz="2200" dirty="0"/>
              <a:t>In </a:t>
            </a:r>
            <a:r>
              <a:rPr lang="en-US" sz="2200" dirty="0" smtClean="0"/>
              <a:t>education and training, </a:t>
            </a:r>
            <a:r>
              <a:rPr lang="en-US" sz="2200" dirty="0"/>
              <a:t>we enhance books, magazines, </a:t>
            </a:r>
            <a:r>
              <a:rPr lang="en-US" sz="2200" dirty="0" smtClean="0"/>
              <a:t>models</a:t>
            </a:r>
            <a:r>
              <a:rPr lang="en-US" sz="2200" dirty="0"/>
              <a:t>, </a:t>
            </a:r>
            <a:r>
              <a:rPr lang="en-US" sz="2200" dirty="0" smtClean="0"/>
              <a:t>props, and </a:t>
            </a:r>
            <a:r>
              <a:rPr lang="en-US" sz="2200" dirty="0"/>
              <a:t>other learning materials with AR features</a:t>
            </a:r>
            <a:r>
              <a:rPr lang="en-US" sz="2200" dirty="0" smtClean="0"/>
              <a:t>.</a:t>
            </a:r>
          </a:p>
          <a:p>
            <a:pPr marL="400050" lvl="1" indent="0" algn="just">
              <a:buNone/>
            </a:pPr>
            <a:endParaRPr lang="en-US" sz="800" dirty="0"/>
          </a:p>
          <a:p>
            <a:pPr marL="400050" lvl="1" indent="0" algn="just">
              <a:buNone/>
            </a:pPr>
            <a:r>
              <a:rPr lang="en-US" sz="2200" dirty="0"/>
              <a:t>For marketing, we create AR apps that animate posters, brochures, tarpaulins, and even items like shirts, pet apparel, paintings, and books</a:t>
            </a:r>
            <a:r>
              <a:rPr lang="en-US" sz="2200" dirty="0" smtClean="0"/>
              <a:t>.</a:t>
            </a:r>
          </a:p>
          <a:p>
            <a:pPr marL="400050" lvl="1" indent="0" algn="just">
              <a:buNone/>
            </a:pPr>
            <a:endParaRPr lang="en-US" sz="800" dirty="0" smtClean="0"/>
          </a:p>
          <a:p>
            <a:pPr marL="400050" lvl="1" indent="0" algn="just">
              <a:buNone/>
            </a:pPr>
            <a:r>
              <a:rPr lang="en-US" sz="2200" dirty="0"/>
              <a:t>We </a:t>
            </a:r>
            <a:r>
              <a:rPr lang="en-US" sz="2200" dirty="0" smtClean="0"/>
              <a:t>can also set up </a:t>
            </a:r>
            <a:r>
              <a:rPr lang="en-US" sz="2200" dirty="0"/>
              <a:t>AR attractions to spice up corporate parties or events.</a:t>
            </a:r>
          </a:p>
          <a:p>
            <a:pPr marL="400050" lvl="1" indent="0" algn="just">
              <a:buNone/>
            </a:pP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6916076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Samples of AR attractions</a:t>
            </a:r>
            <a:br>
              <a:rPr lang="en-US" sz="3500" b="1" dirty="0" smtClean="0">
                <a:solidFill>
                  <a:srgbClr val="0000FF"/>
                </a:solidFill>
              </a:rPr>
            </a:br>
            <a:r>
              <a:rPr lang="en-US" sz="3500" b="1" dirty="0" smtClean="0">
                <a:solidFill>
                  <a:srgbClr val="0000FF"/>
                </a:solidFill>
              </a:rPr>
              <a:t>developed by </a:t>
            </a:r>
            <a:r>
              <a:rPr lang="en-US" sz="3500" b="1" dirty="0" err="1" smtClean="0">
                <a:solidFill>
                  <a:srgbClr val="0000FF"/>
                </a:solidFill>
              </a:rPr>
              <a:t>Acadev</a:t>
            </a:r>
            <a:r>
              <a:rPr lang="en-US" sz="3500" b="1" dirty="0" smtClean="0">
                <a:solidFill>
                  <a:srgbClr val="0000FF"/>
                </a:solidFill>
              </a:rPr>
              <a:t> Technologies</a:t>
            </a:r>
            <a:endParaRPr lang="en-US" sz="3500" b="1" dirty="0">
              <a:solidFill>
                <a:srgbClr val="0000FF"/>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828800"/>
            <a:ext cx="5614987" cy="406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7319429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341437"/>
            <a:ext cx="8229600" cy="4525963"/>
          </a:xfrm>
        </p:spPr>
        <p:txBody>
          <a:bodyPr>
            <a:noAutofit/>
          </a:bodyPr>
          <a:lstStyle/>
          <a:p>
            <a:pPr>
              <a:buFont typeface="+mj-lt"/>
              <a:buAutoNum type="arabicParenR" startAt="5"/>
            </a:pPr>
            <a:r>
              <a:rPr lang="en-US" sz="2400" b="1" dirty="0" smtClean="0">
                <a:solidFill>
                  <a:srgbClr val="C00000"/>
                </a:solidFill>
              </a:rPr>
              <a:t>Virtual Reality (AR) Services </a:t>
            </a:r>
          </a:p>
          <a:p>
            <a:pPr marL="400050" lvl="1" indent="0">
              <a:buNone/>
            </a:pPr>
            <a:r>
              <a:rPr lang="en-US" sz="1600" dirty="0" smtClean="0"/>
              <a:t> </a:t>
            </a:r>
            <a:endParaRPr lang="en-US" sz="1600" dirty="0"/>
          </a:p>
          <a:p>
            <a:pPr marL="400050" lvl="1" indent="0">
              <a:buNone/>
            </a:pPr>
            <a:r>
              <a:rPr lang="en-US" sz="2200" dirty="0" smtClean="0"/>
              <a:t>We are one of the pioneers in the application of real virtual reality (VR) technology in the Philippines. We can develop VR applications in the fields of education, marketing, amusement, and tourism. </a:t>
            </a:r>
          </a:p>
          <a:p>
            <a:pPr marL="400050" lvl="1" indent="0">
              <a:buNone/>
            </a:pPr>
            <a:endParaRPr lang="en-US" sz="1000" dirty="0" smtClean="0"/>
          </a:p>
          <a:p>
            <a:pPr marL="400050" lvl="1" indent="0">
              <a:buNone/>
            </a:pPr>
            <a:r>
              <a:rPr lang="en-US" sz="2200" dirty="0" smtClean="0"/>
              <a:t>In the field of education, we have developed three different VR worlds that let students explore dinosaurs, African animals, or ocean creatures in a fun and immersive way. </a:t>
            </a:r>
            <a:br>
              <a:rPr lang="en-US" sz="2200" dirty="0" smtClean="0"/>
            </a:br>
            <a:endParaRPr lang="en-US" sz="1000" dirty="0" smtClean="0"/>
          </a:p>
          <a:p>
            <a:pPr marL="400050" lvl="1" indent="0">
              <a:buNone/>
            </a:pPr>
            <a:r>
              <a:rPr lang="en-US" sz="2200" dirty="0" smtClean="0"/>
              <a:t>For marketing purposes, we can develop VR worlds for companies so that their customers can have fun while learning about their products.</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873358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a:buFont typeface="+mj-lt"/>
              <a:buAutoNum type="arabicParenR" startAt="6"/>
            </a:pPr>
            <a:r>
              <a:rPr lang="en-US" sz="2400" b="1" dirty="0" smtClean="0">
                <a:solidFill>
                  <a:srgbClr val="C00000"/>
                </a:solidFill>
              </a:rPr>
              <a:t>Training and Education </a:t>
            </a:r>
          </a:p>
          <a:p>
            <a:pPr marL="0" indent="0">
              <a:buNone/>
            </a:pPr>
            <a:endParaRPr lang="en-US" sz="1600" dirty="0"/>
          </a:p>
          <a:p>
            <a:pPr marL="0" indent="0">
              <a:buNone/>
            </a:pPr>
            <a:r>
              <a:rPr lang="en-US" sz="2400" dirty="0" smtClean="0"/>
              <a:t>Using our proprietary online education system, we can set up various online training and testing programs for companies. We can also develop customized online learning systems for schools.</a:t>
            </a:r>
          </a:p>
          <a:p>
            <a:pPr marL="0" indent="0">
              <a:buNone/>
            </a:pPr>
            <a:endParaRPr lang="en-US" sz="1000" dirty="0"/>
          </a:p>
          <a:p>
            <a:pPr marL="0" indent="0">
              <a:buNone/>
            </a:pPr>
            <a:r>
              <a:rPr lang="en-US" sz="2400" dirty="0" smtClean="0"/>
              <a:t>We offer various corporate training programs to companies. We can also assist in the development of special courses or tools for their internal training and development programs. </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928714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838200"/>
            <a:ext cx="8229600" cy="4525963"/>
          </a:xfrm>
        </p:spPr>
        <p:txBody>
          <a:bodyPr>
            <a:noAutofit/>
          </a:bodyPr>
          <a:lstStyle/>
          <a:p>
            <a:pPr marL="0" indent="0">
              <a:buNone/>
            </a:pPr>
            <a:r>
              <a:rPr lang="en-US" sz="2400" b="1" dirty="0" smtClean="0">
                <a:solidFill>
                  <a:srgbClr val="C00000"/>
                </a:solidFill>
              </a:rPr>
              <a:t>7) Robotics and Electromechanical System Design </a:t>
            </a:r>
          </a:p>
          <a:p>
            <a:pPr>
              <a:buFont typeface="+mj-lt"/>
              <a:buAutoNum type="arabicParenR" startAt="6"/>
            </a:pPr>
            <a:endParaRPr lang="en-US" sz="1400" dirty="0"/>
          </a:p>
          <a:p>
            <a:pPr marL="0" indent="0">
              <a:buNone/>
            </a:pPr>
            <a:r>
              <a:rPr lang="en-US" sz="2400" dirty="0" smtClean="0"/>
              <a:t>We can design and build custom robots or electromechanical systems that may be controlled through Windows- or Android-based devices or equipped with generative AI capabilities in the future. </a:t>
            </a:r>
            <a:endParaRPr lang="en-US" sz="24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76600"/>
            <a:ext cx="316371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276600"/>
            <a:ext cx="4876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5867400"/>
            <a:ext cx="3048000" cy="646331"/>
          </a:xfrm>
          <a:prstGeom prst="rect">
            <a:avLst/>
          </a:prstGeom>
        </p:spPr>
        <p:txBody>
          <a:bodyPr wrap="square">
            <a:spAutoFit/>
          </a:bodyPr>
          <a:lstStyle/>
          <a:p>
            <a:pPr algn="ctr"/>
            <a:r>
              <a:rPr lang="en-US" dirty="0" smtClean="0"/>
              <a:t>Our smartphone-controlled</a:t>
            </a:r>
          </a:p>
          <a:p>
            <a:pPr algn="ctr"/>
            <a:r>
              <a:rPr lang="en-US" dirty="0" smtClean="0"/>
              <a:t>robotic bird</a:t>
            </a:r>
            <a:endParaRPr lang="en-US" dirty="0"/>
          </a:p>
        </p:txBody>
      </p:sp>
      <p:sp>
        <p:nvSpPr>
          <p:cNvPr id="7" name="Rectangle 6"/>
          <p:cNvSpPr/>
          <p:nvPr/>
        </p:nvSpPr>
        <p:spPr>
          <a:xfrm>
            <a:off x="4419600" y="5563402"/>
            <a:ext cx="3985065" cy="369332"/>
          </a:xfrm>
          <a:prstGeom prst="rect">
            <a:avLst/>
          </a:prstGeom>
        </p:spPr>
        <p:txBody>
          <a:bodyPr wrap="none">
            <a:spAutoFit/>
          </a:bodyPr>
          <a:lstStyle/>
          <a:p>
            <a:r>
              <a:rPr lang="en-US" dirty="0" smtClean="0"/>
              <a:t>Our AI-ready </a:t>
            </a:r>
            <a:r>
              <a:rPr lang="en-US" dirty="0"/>
              <a:t>speaking humanoid robots </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310692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6068"/>
            <a:ext cx="8229600" cy="4525963"/>
          </a:xfrm>
        </p:spPr>
        <p:txBody>
          <a:bodyPr>
            <a:normAutofit/>
          </a:bodyPr>
          <a:lstStyle/>
          <a:p>
            <a:pPr>
              <a:buFont typeface="+mj-lt"/>
              <a:buAutoNum type="arabicParenR" startAt="8"/>
            </a:pPr>
            <a:r>
              <a:rPr lang="en-US" sz="2400" b="1" dirty="0" smtClean="0">
                <a:solidFill>
                  <a:srgbClr val="C00000"/>
                </a:solidFill>
              </a:rPr>
              <a:t>3D Imaging and Projection </a:t>
            </a:r>
          </a:p>
          <a:p>
            <a:pPr>
              <a:buFont typeface="+mj-lt"/>
              <a:buAutoNum type="arabicParenR" startAt="8"/>
            </a:pPr>
            <a:endParaRPr lang="en-US" sz="1600" b="1" dirty="0" smtClean="0">
              <a:solidFill>
                <a:srgbClr val="C00000"/>
              </a:solidFill>
            </a:endParaRPr>
          </a:p>
          <a:p>
            <a:pPr marL="400050" lvl="1" indent="0">
              <a:buNone/>
            </a:pPr>
            <a:r>
              <a:rPr lang="en-US" sz="2200" dirty="0" smtClean="0"/>
              <a:t>We can develop content and/or set up a display/projection system for your 3D imaging/projection needs. </a:t>
            </a:r>
          </a:p>
          <a:p>
            <a:pPr marL="0" indent="0">
              <a:buNone/>
            </a:pP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754868"/>
            <a:ext cx="3804862"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457200" y="-762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5" name="Rectangle 4"/>
          <p:cNvSpPr/>
          <p:nvPr/>
        </p:nvSpPr>
        <p:spPr>
          <a:xfrm>
            <a:off x="3045431" y="5726668"/>
            <a:ext cx="2895600" cy="369332"/>
          </a:xfrm>
          <a:prstGeom prst="rect">
            <a:avLst/>
          </a:prstGeom>
        </p:spPr>
        <p:txBody>
          <a:bodyPr wrap="square">
            <a:spAutoFit/>
          </a:bodyPr>
          <a:lstStyle/>
          <a:p>
            <a:pPr algn="ctr"/>
            <a:r>
              <a:rPr lang="en-US" dirty="0" smtClean="0"/>
              <a:t>Our 3D billboard prototype</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48456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401762"/>
            <a:ext cx="8229600" cy="4525963"/>
          </a:xfrm>
        </p:spPr>
        <p:txBody>
          <a:bodyPr>
            <a:normAutofit/>
          </a:bodyPr>
          <a:lstStyle/>
          <a:p>
            <a:pPr>
              <a:buFont typeface="+mj-lt"/>
              <a:buAutoNum type="arabicParenR" startAt="9"/>
            </a:pPr>
            <a:r>
              <a:rPr lang="en-US" sz="2400" b="1" dirty="0" smtClean="0">
                <a:solidFill>
                  <a:srgbClr val="C00000"/>
                </a:solidFill>
              </a:rPr>
              <a:t>Artificial Intelligence (AI) Services </a:t>
            </a:r>
          </a:p>
          <a:p>
            <a:pPr algn="just">
              <a:buFont typeface="+mj-lt"/>
              <a:buAutoNum type="arabicParenR" startAt="9"/>
            </a:pPr>
            <a:endParaRPr lang="en-US" sz="1600" dirty="0"/>
          </a:p>
          <a:p>
            <a:pPr marL="400050" lvl="1" indent="0" algn="just">
              <a:buNone/>
            </a:pPr>
            <a:r>
              <a:rPr lang="en-US" sz="2200" dirty="0" smtClean="0"/>
              <a:t>We can develop and implement local or offline generative AI apps for schools and companies. Right now, we are using </a:t>
            </a:r>
            <a:r>
              <a:rPr lang="en-US" sz="2200" dirty="0" err="1" smtClean="0"/>
              <a:t>Ollama</a:t>
            </a:r>
            <a:r>
              <a:rPr lang="en-US" sz="2200" dirty="0" smtClean="0"/>
              <a:t> to develop an AI-driven, voice-controlled TV that can automatically display lessons to students inside the classroom. </a:t>
            </a:r>
          </a:p>
          <a:p>
            <a:pPr marL="400050" lvl="1" indent="0" algn="just">
              <a:buNone/>
            </a:pPr>
            <a:endParaRPr lang="en-US" sz="2200" dirty="0"/>
          </a:p>
          <a:p>
            <a:pPr marL="400050" lvl="1" indent="0" algn="just">
              <a:buNone/>
            </a:pPr>
            <a:r>
              <a:rPr lang="en-US" sz="2200" dirty="0" smtClean="0"/>
              <a:t>Imagine a teacher simply saying, ‘Explain how plants make their own food,’ and the TV automatically displays a lesson on photosynthesis, complete with images for students to read and understand. This kind of ‘magic whiteboard’ could truly revolutionize classroom teaching.</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3639827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654</Words>
  <Application>Microsoft Office PowerPoint</Application>
  <PresentationFormat>On-screen Show (4:3)</PresentationFormat>
  <Paragraphs>75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Acadev Technologies at a Glance</vt:lpstr>
      <vt:lpstr>Company Description</vt:lpstr>
      <vt:lpstr>Our Products and Services </vt:lpstr>
      <vt:lpstr>PowerPoint Presentation</vt:lpstr>
      <vt:lpstr>Our Products and Services </vt:lpstr>
      <vt:lpstr>Screenshots from VR Adventures </vt:lpstr>
      <vt:lpstr>Our Products and Services </vt:lpstr>
      <vt:lpstr>Samples of AR attractions developed by Acadev Technologies</vt:lpstr>
      <vt:lpstr>Our Products and Services </vt:lpstr>
      <vt:lpstr>Our Products and Services </vt:lpstr>
      <vt:lpstr>Our Products and Services </vt:lpstr>
      <vt:lpstr>Our Products and Services </vt:lpstr>
      <vt:lpstr>Our Products and Services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Elmer</cp:lastModifiedBy>
  <cp:revision>29</cp:revision>
  <dcterms:created xsi:type="dcterms:W3CDTF">2025-04-29T08:11:15Z</dcterms:created>
  <dcterms:modified xsi:type="dcterms:W3CDTF">2025-05-08T13:23:25Z</dcterms:modified>
</cp:coreProperties>
</file>